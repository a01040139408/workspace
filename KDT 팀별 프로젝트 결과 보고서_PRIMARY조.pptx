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44" r:id="rId1"/>
  </p:sldMasterIdLst>
  <p:notesMasterIdLst>
    <p:notesMasterId r:id="rId12"/>
  </p:notesMasterIdLst>
  <p:sldIdLst>
    <p:sldId id="256" r:id="rId2"/>
    <p:sldId id="258" r:id="rId3"/>
    <p:sldId id="298" r:id="rId4"/>
    <p:sldId id="297" r:id="rId5"/>
    <p:sldId id="270" r:id="rId6"/>
    <p:sldId id="290" r:id="rId7"/>
    <p:sldId id="289" r:id="rId8"/>
    <p:sldId id="291" r:id="rId9"/>
    <p:sldId id="294" r:id="rId10"/>
    <p:sldId id="282" r:id="rId11"/>
  </p:sldIdLst>
  <p:sldSz cx="12192000" cy="6858000"/>
  <p:notesSz cx="6797675" cy="9926638"/>
  <p:embeddedFontLst>
    <p:embeddedFont>
      <p:font typeface="휴먼둥근헤드라인" panose="02030504000101010101" pitchFamily="18" charset="-127"/>
      <p:regular r:id="rId13"/>
    </p:embeddedFont>
    <p:embeddedFont>
      <p:font typeface="맑은 고딕" panose="020B0503020000020004" pitchFamily="34" charset="-127"/>
      <p:regular r:id="rId14"/>
      <p:bold r:id="rId15"/>
    </p:embeddedFont>
    <p:embeddedFont>
      <p:font typeface="맑은 고딕" panose="020B0503020000020004" pitchFamily="34" charset="-127"/>
      <p:regular r:id="rId14"/>
      <p:bold r:id="rId15"/>
    </p:embeddedFont>
    <p:embeddedFont>
      <p:font typeface="HYGothic-Extra" panose="02030600000101010101" pitchFamily="18" charset="-127"/>
      <p:regular r:id="rId16"/>
    </p:embeddedFont>
    <p:embeddedFont>
      <p:font typeface="HYGothic-Extra" panose="02030600000101010101" pitchFamily="18" charset="-127"/>
      <p:regular r:id="rId1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273" userDrawn="1">
          <p15:clr>
            <a:srgbClr val="A4A3A4"/>
          </p15:clr>
        </p15:guide>
        <p15:guide id="4" orient="horz" pos="23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31E"/>
    <a:srgbClr val="939597"/>
    <a:srgbClr val="E41A00"/>
    <a:srgbClr val="F5DF4D"/>
    <a:srgbClr val="F2F2F2"/>
    <a:srgbClr val="0165B2"/>
    <a:srgbClr val="445569"/>
    <a:srgbClr val="1F4E79"/>
    <a:srgbClr val="D9D9D9"/>
    <a:srgbClr val="87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4A110-D8CB-1104-3E07-930D6943C662}" v="2080" dt="2025-02-03T04:09:15.0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25" autoAdjust="0"/>
    <p:restoredTop sz="94660"/>
  </p:normalViewPr>
  <p:slideViewPr>
    <p:cSldViewPr>
      <p:cViewPr varScale="1">
        <p:scale>
          <a:sx n="140" d="100"/>
          <a:sy n="140" d="100"/>
        </p:scale>
        <p:origin x="156" y="630"/>
      </p:cViewPr>
      <p:guideLst>
        <p:guide orient="horz" pos="2160"/>
        <p:guide pos="3840"/>
        <p:guide orient="horz" pos="2273"/>
        <p:guide orient="horz" pos="23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4B13090-954C-42B8-9E26-10AE906BFE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B5573C-C310-4726-9454-5731CB3903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B23E853-DAFB-42BA-8E42-DDF83CF398B2}" type="datetimeFigureOut">
              <a:rPr lang="ko-KR" altLang="en-US"/>
              <a:pPr>
                <a:defRPr/>
              </a:pPr>
              <a:t>2025-02-03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D22152C-1816-43C7-B775-5E35B9F1B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B8D62B9-6FD8-43F2-9E77-9978E5CE9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97EA6A-DFF3-4031-B2DB-B8F0C59EF5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483748-CC11-4FD5-9189-939F40637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2D6D723-6FAE-4977-A65A-290E950EFE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1653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D6D723-6FAE-4977-A65A-290E950EFE4D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60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365A99C7-F13B-47D8-B5BD-38E6F0CB361D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71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4C9F9D85-245D-487B-9B00-88B0B539706D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rgbClr val="445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89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5D9AA456-0B6B-4E73-B0F7-E7ED14FCE978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71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79EBF7CE-BBD8-4458-A8ED-6DB61D7612E5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4A0F72E-1949-4219-AC42-014A834BDE88}"/>
              </a:ext>
            </a:extLst>
          </p:cNvPr>
          <p:cNvSpPr txBox="1"/>
          <p:nvPr/>
        </p:nvSpPr>
        <p:spPr>
          <a:xfrm>
            <a:off x="8195345" y="4874347"/>
            <a:ext cx="3496857" cy="1510157"/>
          </a:xfrm>
          <a:prstGeom prst="rect">
            <a:avLst/>
          </a:prstGeom>
          <a:noFill/>
        </p:spPr>
        <p:txBody>
          <a:bodyPr wrap="square" lIns="91440" tIns="0" rIns="91440" bIns="0" anchor="t">
            <a:spAutoFit/>
          </a:bodyPr>
          <a:lstStyle/>
          <a:p>
            <a:pPr algn="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1조</a:t>
            </a:r>
            <a:endParaRPr lang="ko-KR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TEAM PRIMARY </a:t>
            </a:r>
            <a:r>
              <a: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               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  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" y="1579670"/>
            <a:ext cx="12191999" cy="2190904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3200" b="1" spc="-150" dirty="0">
              <a:solidFill>
                <a:schemeClr val="tx1">
                  <a:lumMod val="85000"/>
                  <a:lumOff val="15000"/>
                </a:schemeClr>
              </a:solidFill>
              <a:latin typeface="맑은 고딕"/>
              <a:ea typeface="맑은 고딕"/>
            </a:endParaRPr>
          </a:p>
          <a:p>
            <a:pPr algn="ctr"/>
            <a:endParaRPr lang="ko-KR" altLang="en-US" sz="3200" b="1" spc="-150" dirty="0">
              <a:solidFill>
                <a:schemeClr val="tx1">
                  <a:lumMod val="85000"/>
                  <a:lumOff val="15000"/>
                </a:schemeClr>
              </a:solidFill>
              <a:latin typeface="맑은 고딕"/>
              <a:ea typeface="맑은 고딕"/>
            </a:endParaRPr>
          </a:p>
          <a:p>
            <a:pPr algn="ctr"/>
            <a:r>
              <a:rPr lang="ko-KR" altLang="en-US" sz="32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서울의 닭</a:t>
            </a:r>
          </a:p>
          <a:p>
            <a:pPr algn="ctr"/>
            <a:endParaRPr lang="ko-KR" altLang="en-US" sz="3200" b="1" spc="-150" dirty="0">
              <a:solidFill>
                <a:schemeClr val="tx1">
                  <a:lumMod val="85000"/>
                  <a:lumOff val="15000"/>
                </a:schemeClr>
              </a:solidFill>
              <a:latin typeface="맑은 고딕"/>
              <a:ea typeface="맑은 고딕"/>
            </a:endParaRPr>
          </a:p>
          <a:p>
            <a:pPr algn="ctr"/>
            <a:r>
              <a:rPr lang="ko-KR" altLang="en-US" sz="3200" b="1" spc="-1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공공데이터포털</a:t>
            </a:r>
            <a:r>
              <a:rPr lang="ko-KR" altLang="en-US" sz="32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 서울시 상권 분석 자료 활용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ko-KR" altLang="en-US" sz="3200" b="1" spc="-15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/>
                <a:ea typeface="맑은 고딕"/>
              </a:rPr>
              <a:t>치킨집 지도 및 엔터테인먼트적 요소를 반영한 웹사이트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60" y="1803510"/>
            <a:ext cx="3500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하이미디어아카데미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1" y="6348813"/>
            <a:ext cx="1482842" cy="385879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0859084" y="-40947"/>
            <a:ext cx="8851785" cy="286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33" name="_x278651016" descr="EMB0000378c3f3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64" y="6381328"/>
            <a:ext cx="1180238" cy="37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C535B9-0206-4933-B3A2-FC73A8BF1A8F}"/>
              </a:ext>
            </a:extLst>
          </p:cNvPr>
          <p:cNvSpPr txBox="1"/>
          <p:nvPr/>
        </p:nvSpPr>
        <p:spPr>
          <a:xfrm>
            <a:off x="5159896" y="2367345"/>
            <a:ext cx="6768752" cy="61555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ko-KR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-1907"/>
            <a:ext cx="12192000" cy="338554"/>
          </a:xfrm>
          <a:prstGeom prst="rect">
            <a:avLst/>
          </a:prstGeom>
          <a:solidFill>
            <a:srgbClr val="F5DF4D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spc="600" dirty="0">
                <a:solidFill>
                  <a:schemeClr val="bg2">
                    <a:lumMod val="10000"/>
                  </a:schemeClr>
                </a:solidFill>
                <a:latin typeface="+mj-ea"/>
                <a:ea typeface="+mj-ea"/>
              </a:rPr>
              <a:t>K-Digital </a:t>
            </a:r>
            <a:r>
              <a:rPr lang="en-US" altLang="ko-KR" sz="16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Training</a:t>
            </a:r>
            <a:endParaRPr lang="ko-KR" altLang="en-US" sz="1600" spc="6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0067" y="1700808"/>
            <a:ext cx="11971867" cy="1944216"/>
          </a:xfrm>
          <a:prstGeom prst="rect">
            <a:avLst/>
          </a:prstGeom>
          <a:noFill/>
          <a:ln w="15875">
            <a:solidFill>
              <a:srgbClr val="939597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939597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그림 5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31778" y="0"/>
            <a:ext cx="39616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6296549" y="1485945"/>
            <a:ext cx="3673068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개요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1571E-D5AF-4658-8E5B-5F588CCC25FE}"/>
              </a:ext>
            </a:extLst>
          </p:cNvPr>
          <p:cNvSpPr txBox="1"/>
          <p:nvPr/>
        </p:nvSpPr>
        <p:spPr>
          <a:xfrm>
            <a:off x="6296549" y="2874601"/>
            <a:ext cx="4969212" cy="430887"/>
          </a:xfrm>
          <a:prstGeom prst="rect">
            <a:avLst/>
          </a:prstGeom>
          <a:noFill/>
        </p:spPr>
        <p:txBody>
          <a:bodyPr wrap="square" lIns="91440" tIns="0" rIns="91440" bIns="0" anchor="t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03.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프로젝트 팀 구성 및 역할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5B540-74AA-4CA6-904D-994DB65E4EB3}"/>
              </a:ext>
            </a:extLst>
          </p:cNvPr>
          <p:cNvSpPr txBox="1"/>
          <p:nvPr/>
        </p:nvSpPr>
        <p:spPr>
          <a:xfrm>
            <a:off x="6296549" y="2179231"/>
            <a:ext cx="5293248" cy="430887"/>
          </a:xfrm>
          <a:prstGeom prst="rect">
            <a:avLst/>
          </a:prstGeom>
          <a:noFill/>
        </p:spPr>
        <p:txBody>
          <a:bodyPr wrap="square" lIns="91440" tIns="0" rIns="91440" bIns="0" anchor="t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02.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프로젝트 수행 절차 및 방법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421BD-AD74-4354-9633-30BE8885A1C6}"/>
              </a:ext>
            </a:extLst>
          </p:cNvPr>
          <p:cNvSpPr txBox="1"/>
          <p:nvPr/>
        </p:nvSpPr>
        <p:spPr>
          <a:xfrm>
            <a:off x="6296549" y="3586248"/>
            <a:ext cx="4480049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경과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421BD-AD74-4354-9633-30BE8885A1C6}"/>
              </a:ext>
            </a:extLst>
          </p:cNvPr>
          <p:cNvSpPr txBox="1"/>
          <p:nvPr/>
        </p:nvSpPr>
        <p:spPr>
          <a:xfrm>
            <a:off x="6296549" y="4286349"/>
            <a:ext cx="3205016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05.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자체 평가 의견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CDDD06-C26E-49E8-A179-00D4CDF28DDF}"/>
              </a:ext>
            </a:extLst>
          </p:cNvPr>
          <p:cNvSpPr/>
          <p:nvPr/>
        </p:nvSpPr>
        <p:spPr bwMode="auto">
          <a:xfrm>
            <a:off x="1" y="0"/>
            <a:ext cx="5231780" cy="6858000"/>
          </a:xfrm>
          <a:prstGeom prst="rect">
            <a:avLst/>
          </a:prstGeom>
          <a:solidFill>
            <a:srgbClr val="F5DF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19014" y="200058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4CE34E-C7C1-4DD4-A0D0-B0D83CF9FEFF}"/>
              </a:ext>
            </a:extLst>
          </p:cNvPr>
          <p:cNvSpPr txBox="1"/>
          <p:nvPr/>
        </p:nvSpPr>
        <p:spPr>
          <a:xfrm>
            <a:off x="1156215" y="1104856"/>
            <a:ext cx="1039068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프로젝트의 </a:t>
            </a:r>
            <a:r>
              <a:rPr lang="ko-KR" altLang="en-US" b="1" u="sng" spc="-150" dirty="0">
                <a:solidFill>
                  <a:srgbClr val="FE431E"/>
                </a:solidFill>
                <a:latin typeface="+mn-ea"/>
                <a:ea typeface="+mn-ea"/>
              </a:rPr>
              <a:t>사전기획</a:t>
            </a:r>
            <a:r>
              <a:rPr lang="ko-KR" altLang="en-US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과 </a:t>
            </a:r>
            <a:r>
              <a:rPr lang="ko-KR" altLang="en-US" b="1" u="sng" spc="-150" dirty="0">
                <a:solidFill>
                  <a:srgbClr val="FE431E"/>
                </a:solidFill>
                <a:latin typeface="+mn-ea"/>
                <a:ea typeface="+mn-ea"/>
              </a:rPr>
              <a:t>프로젝트 수행</a:t>
            </a:r>
            <a:r>
              <a:rPr lang="ko-KR" altLang="en-US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및 </a:t>
            </a:r>
            <a:r>
              <a:rPr lang="ko-KR" altLang="en-US" b="1" u="sng" spc="-150" dirty="0">
                <a:solidFill>
                  <a:srgbClr val="FE431E"/>
                </a:solidFill>
                <a:latin typeface="+mn-ea"/>
                <a:ea typeface="+mn-ea"/>
              </a:rPr>
              <a:t>완료</a:t>
            </a:r>
            <a:r>
              <a:rPr lang="ko-KR" altLang="en-US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과정으로 나누어서 작성한다</a:t>
            </a:r>
            <a:r>
              <a:rPr lang="en-US" altLang="ko-KR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972665" y="2082334"/>
            <a:ext cx="10523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ko-KR" altLang="en-US" sz="1600" u="sng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기획 단계에서 도출된 주제와 아이디어를 기반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으로 실제 프로젝트를 수행한 </a:t>
            </a:r>
            <a:r>
              <a:rPr lang="ko-KR" altLang="en-US" sz="1600" u="sng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세부적인 기간과 활동 내용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작성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63705"/>
              </p:ext>
            </p:extLst>
          </p:nvPr>
        </p:nvGraphicFramePr>
        <p:xfrm>
          <a:off x="1062842" y="2583265"/>
          <a:ext cx="10048754" cy="438451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39944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444374">
                  <a:extLst>
                    <a:ext uri="{9D8B030D-6E8A-4147-A177-3AD203B41FA5}">
                      <a16:colId xmlns:a16="http://schemas.microsoft.com/office/drawing/2014/main" val="2457702995"/>
                    </a:ext>
                  </a:extLst>
                </a:gridCol>
                <a:gridCol w="5764436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</a:tblGrid>
              <a:tr h="50888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b="0" i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구분</a:t>
                      </a:r>
                      <a:endParaRPr lang="ko-KR" altLang="en-US" sz="1500" b="0" i="0" spc="-10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b="0" i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기간</a:t>
                      </a:r>
                      <a:endParaRPr lang="ko-KR" altLang="en-US" sz="1500" b="0" i="0" spc="-10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b="0" i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활동</a:t>
                      </a:r>
                      <a:endParaRPr lang="ko-KR" altLang="en-US" sz="1500" b="0" i="0" spc="-10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6305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5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1주차</a:t>
                      </a:r>
                      <a:endParaRPr lang="ko-KR" b="0" i="0"/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 1/8 ~ 1/10</a:t>
                      </a:r>
                      <a:endParaRPr lang="en-US" altLang="ko-KR" sz="1500" b="0" i="0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Data, GUI, CLI, HTML, </a:t>
                      </a:r>
                      <a:r>
                        <a:rPr lang="en-US" altLang="ko-KR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AI등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기본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개념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위주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 </a:t>
                      </a:r>
                      <a:r>
                        <a:rPr lang="en-US" altLang="ko-KR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학습</a:t>
                      </a:r>
                      <a:endParaRPr lang="en-US" altLang="ko-KR" sz="1500" b="0" i="0" u="none" spc="-100" dirty="0" err="1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0801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500" b="0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500" b="0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2주차</a:t>
                      </a:r>
                      <a:endParaRPr kumimoji="0" lang="ko-KR" altLang="en-US" sz="15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1/13 ~ 1/17</a:t>
                      </a:r>
                      <a:endParaRPr lang="en-US" altLang="ko-KR" sz="1500" b="0" i="0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Python </a:t>
                      </a:r>
                      <a:r>
                        <a:rPr lang="en-US" altLang="ko-KR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기반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Flask 웹 </a:t>
                      </a:r>
                      <a:r>
                        <a:rPr lang="en-US" altLang="ko-KR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개발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실습</a:t>
                      </a:r>
                      <a:endParaRPr lang="en-US" altLang="ko-KR" sz="1500" b="0" i="0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ko-KR" altLang="en-US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CMD, </a:t>
                      </a:r>
                      <a:r>
                        <a:rPr lang="ko-KR" altLang="en-US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Jupyter</a:t>
                      </a:r>
                      <a:r>
                        <a:rPr lang="ko-KR" altLang="en-US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Notebook</a:t>
                      </a:r>
                      <a:r>
                        <a:rPr lang="ko-KR" altLang="en-US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 PyQt5, </a:t>
                      </a:r>
                      <a:r>
                        <a:rPr lang="ko-KR" altLang="en-US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Streamlit</a:t>
                      </a:r>
                      <a:r>
                        <a:rPr lang="ko-KR" altLang="en-US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실습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85898"/>
                  </a:ext>
                </a:extLst>
              </a:tr>
              <a:tr h="5973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500" b="0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500" b="0" i="0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3주차</a:t>
                      </a:r>
                      <a:endParaRPr kumimoji="0" lang="ko-KR" altLang="en-US" sz="1500" b="0" i="0" u="none" strike="noStrike" kern="1200" cap="none" spc="-100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1/20 ~ 1/24</a:t>
                      </a:r>
                      <a:endParaRPr lang="en-US" altLang="ko-KR" sz="1500" b="0" i="0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ko-KR" altLang="en-US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Oracle DB, SQL Plus, SQL </a:t>
                      </a:r>
                      <a:r>
                        <a:rPr lang="ko-KR" altLang="en-US" sz="1500" b="0" i="0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Developer</a:t>
                      </a:r>
                      <a:r>
                        <a:rPr lang="ko-KR" altLang="en-US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등 데이터베이스 가공 활용 실습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HYGothic-Extra"/>
                          <a:ea typeface="HYGothic-Extra"/>
                        </a:rPr>
                        <a:t>▶ </a:t>
                      </a:r>
                      <a:r>
                        <a:rPr lang="ko-KR" altLang="en-US" sz="1500" b="0" i="0" u="none" strike="noStrike" spc="-100" noProof="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공공데이터포털</a:t>
                      </a:r>
                      <a:r>
                        <a:rPr lang="en-US" altLang="ko-KR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(data.go.kr)</a:t>
                      </a:r>
                      <a:r>
                        <a:rPr lang="ko-KR" altLang="en-US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 서울 상권 분석 자료 활용한 서울시 치킨집 좌표 지도 구현 및 치킨 관련 </a:t>
                      </a:r>
                      <a:r>
                        <a:rPr lang="en-US" altLang="ko-KR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Flask</a:t>
                      </a:r>
                      <a:r>
                        <a:rPr lang="ko-KR" altLang="en-US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 웹 개발 프로젝트 구상</a:t>
                      </a:r>
                    </a:p>
                    <a:p>
                      <a:pPr marL="0" marR="0" lvl="0" indent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HYGothic-Extra"/>
                          <a:ea typeface="HYGothic-Extra"/>
                        </a:rPr>
                        <a:t>▶ 네이버 지도 </a:t>
                      </a:r>
                      <a:r>
                        <a:rPr lang="en-US" altLang="ko-KR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HYGothic-Extra"/>
                        </a:rPr>
                        <a:t>API </a:t>
                      </a:r>
                      <a:r>
                        <a:rPr lang="ko-KR" altLang="en-US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HYGothic-Extra"/>
                        </a:rPr>
                        <a:t>연동</a:t>
                      </a:r>
                      <a:r>
                        <a:rPr lang="en-US" altLang="ko-KR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HYGothic-Extra"/>
                        </a:rPr>
                        <a:t> </a:t>
                      </a:r>
                      <a:r>
                        <a:rPr lang="ko-KR" altLang="en-US" sz="1500" b="0" i="0" u="none" strike="noStrike" spc="-10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HYGothic-Extra"/>
                        </a:rPr>
                        <a:t>실습</a:t>
                      </a:r>
                      <a:endParaRPr lang="ko-KR" dirty="0"/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87332"/>
                  </a:ext>
                </a:extLst>
              </a:tr>
              <a:tr h="5973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5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5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4주차</a:t>
                      </a:r>
                      <a:endParaRPr lang="ko-KR" altLang="en-US" sz="1500" b="0" i="0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1/27 ~ 1/31</a:t>
                      </a:r>
                      <a:endParaRPr lang="en-US" altLang="ko-KR" sz="1500" b="0" i="0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ko-KR" altLang="en-US" sz="1500" b="0" i="0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 팀원 업무분장에 따라 </a:t>
                      </a:r>
                      <a:r>
                        <a:rPr lang="ko-KR" altLang="en-US" sz="1500" b="0" i="0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Flask</a:t>
                      </a:r>
                      <a:r>
                        <a:rPr lang="ko-KR" altLang="en-US" sz="1500" b="0" i="0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웹 개발 진행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16193"/>
                  </a:ext>
                </a:extLst>
              </a:tr>
              <a:tr h="7080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5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500" b="0" i="0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5주차</a:t>
                      </a:r>
                      <a:endParaRPr kumimoji="0" lang="ko-KR" altLang="en-US" sz="1500" b="0" i="0" u="none" strike="noStrike" kern="1200" cap="none" spc="-100" normalizeH="0" baseline="0" noProof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en-US" altLang="ko-KR" sz="1500" b="0" i="0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 2/3 ~ 2/7</a:t>
                      </a:r>
                      <a:endParaRPr lang="en-US" altLang="ko-KR" sz="1500" b="0" i="0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en-US" altLang="ko-KR" sz="1500" b="0" i="0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Flask 웹 </a:t>
                      </a:r>
                      <a:r>
                        <a:rPr lang="en-US" altLang="ko-KR" sz="1500" b="0" i="0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  <a:r>
                        <a:rPr lang="en-US" altLang="ko-KR" sz="1500" b="0" i="0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0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진행사항</a:t>
                      </a:r>
                      <a:r>
                        <a:rPr lang="en-US" altLang="ko-KR" sz="1500" b="0" i="0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0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수시</a:t>
                      </a:r>
                      <a:r>
                        <a:rPr lang="en-US" altLang="ko-KR" sz="1500" b="0" i="0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0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공유</a:t>
                      </a:r>
                      <a:r>
                        <a:rPr lang="en-US" altLang="ko-KR" sz="1500" b="0" i="0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및 </a:t>
                      </a:r>
                      <a:r>
                        <a:rPr lang="en-US" altLang="ko-KR" sz="1500" b="0" i="0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보완점</a:t>
                      </a:r>
                      <a:r>
                        <a:rPr lang="en-US" altLang="ko-KR" sz="1500" b="0" i="0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0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논의</a:t>
                      </a:r>
                    </a:p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0" spc="-10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</a:t>
                      </a:r>
                      <a:r>
                        <a:rPr lang="ko-KR" altLang="en-US" sz="1500" b="0" i="0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세부 디자인 마무리 &amp; 기능 구현 최종 점검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9396" y="1052736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 w="12700">
                  <a:solidFill>
                    <a:srgbClr val="939597"/>
                  </a:solidFill>
                  <a:prstDash val="solid"/>
                </a:ln>
                <a:pattFill prst="dkUpDiag">
                  <a:fgClr>
                    <a:srgbClr val="939597"/>
                  </a:fgClr>
                  <a:bgClr>
                    <a:schemeClr val="bg2">
                      <a:lumMod val="90000"/>
                    </a:schemeClr>
                  </a:bgClr>
                </a:patt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</a:t>
            </a:r>
          </a:p>
        </p:txBody>
      </p:sp>
      <p:sp>
        <p:nvSpPr>
          <p:cNvPr id="35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/>
                <a:ea typeface="휴먼둥근헤드라인"/>
              </a:rPr>
              <a:t>02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/>
              <a:ea typeface="휴먼둥근헤드라인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4185761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절차 및 방법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5642243" y="790307"/>
            <a:ext cx="60080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87794" y="1596796"/>
            <a:ext cx="9886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프로젝트 수행 절차를 </a:t>
            </a:r>
            <a:r>
              <a:rPr lang="ko-KR" altLang="en-US" sz="1600" u="sng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도식화하여 제시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하거나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더 효과적으로 전달하는 방법 등이 있다면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수정하여 작성 가능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838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0000"/>
                <a:lumOff val="10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55958" y="116632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/>
                <a:ea typeface="휴먼둥근헤드라인"/>
              </a:rPr>
              <a:t>03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/>
                <a:ea typeface="휴먼둥근헤드라인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/>
              <a:ea typeface="휴먼둥근헤드라인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5375920" y="790307"/>
            <a:ext cx="651207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387798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팀 구성 및 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934" y="725396"/>
            <a:ext cx="444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 w="12700">
                  <a:solidFill>
                    <a:srgbClr val="939597"/>
                  </a:solidFill>
                  <a:prstDash val="solid"/>
                </a:ln>
                <a:pattFill prst="dkUpDiag">
                  <a:fgClr>
                    <a:srgbClr val="939597"/>
                  </a:fgClr>
                  <a:bgClr>
                    <a:schemeClr val="bg2">
                      <a:lumMod val="90000"/>
                    </a:schemeClr>
                  </a:bgClr>
                </a:patt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4CE34E-C7C1-4DD4-A0D0-B0D83CF9FEFF}"/>
              </a:ext>
            </a:extLst>
          </p:cNvPr>
          <p:cNvSpPr txBox="1"/>
          <p:nvPr/>
        </p:nvSpPr>
        <p:spPr>
          <a:xfrm>
            <a:off x="1144591" y="838602"/>
            <a:ext cx="10207993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2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해당 프로젝트를 진행하면서 </a:t>
            </a:r>
            <a:r>
              <a:rPr lang="ko-KR" altLang="en-US" sz="1200" b="1" u="sng" spc="-150" dirty="0">
                <a:solidFill>
                  <a:srgbClr val="FF0000"/>
                </a:solidFill>
                <a:latin typeface="+mn-ea"/>
                <a:ea typeface="+mn-ea"/>
              </a:rPr>
              <a:t>훈련생 별로 </a:t>
            </a:r>
            <a:r>
              <a:rPr lang="ko-KR" altLang="en-US" sz="1200" b="1" u="sng" spc="-150" dirty="0">
                <a:solidFill>
                  <a:srgbClr val="FE431E"/>
                </a:solidFill>
                <a:latin typeface="+mn-ea"/>
                <a:ea typeface="+mn-ea"/>
              </a:rPr>
              <a:t>주도적으로 참여한 부분을 중심</a:t>
            </a:r>
            <a:r>
              <a:rPr lang="ko-KR" altLang="en-US" sz="12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으로 작성한다</a:t>
            </a:r>
            <a:r>
              <a:rPr lang="en-US" altLang="ko-KR" sz="12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.  * </a:t>
            </a:r>
            <a:r>
              <a:rPr lang="ko-KR" altLang="en-US" sz="12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프로젝트 운영 중 멘토의 지원내역 간략하게 작성</a:t>
            </a:r>
            <a:r>
              <a:rPr lang="en-US" altLang="ko-KR" sz="12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947434"/>
              </p:ext>
            </p:extLst>
          </p:nvPr>
        </p:nvGraphicFramePr>
        <p:xfrm>
          <a:off x="1164392" y="1325619"/>
          <a:ext cx="9649072" cy="5046324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6048672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1636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역할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담당 업무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349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i="1" u="none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오윤지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조장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b="1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공공데이터활용 상권 분석 지도 구현 방향성 설정</a:t>
                      </a:r>
                      <a:endParaRPr lang="ko-KR" altLang="en-US" sz="1600" b="1" baseline="0">
                        <a:ln w="12700">
                          <a:solidFill>
                            <a:srgbClr val="939597"/>
                          </a:solidFill>
                          <a:prstDash val="soli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>
                          <a:outerShdw dist="38100" dir="2640000" algn="bl" rotWithShape="0">
                            <a:srgbClr val="939597"/>
                          </a:outerShdw>
                        </a:effectLst>
                        <a:latin typeface="HY견고딕"/>
                        <a:ea typeface="HY견고딕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b="1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▶네이버 지도 API 적용</a:t>
                      </a:r>
                      <a:endParaRPr kumimoji="0" lang="ko-KR" altLang="en-US" sz="160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349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1" u="none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이새벽</a:t>
                      </a:r>
                      <a:endParaRPr lang="ko-KR" altLang="en-US" sz="1800" b="0" i="1" u="none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팀원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r>
                        <a:rPr lang="ko-KR" altLang="en-US" sz="1600" b="1" baseline="0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 </a:t>
                      </a:r>
                      <a:endParaRPr lang="en-US" altLang="ko-KR" sz="1600" b="1" baseline="0" dirty="0">
                        <a:ln w="12700">
                          <a:solidFill>
                            <a:srgbClr val="939597"/>
                          </a:solidFill>
                          <a:prstDash val="soli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>
                          <a:outerShdw dist="38100" dir="2640000" algn="bl" rotWithShape="0">
                            <a:srgbClr val="939597"/>
                          </a:outerShdw>
                        </a:effectLst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349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엄태민</a:t>
                      </a:r>
                      <a:endParaRPr kumimoji="0" lang="ko-KR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endParaRPr kumimoji="0" lang="ko-KR" altLang="en-US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endParaRPr kumimoji="0" lang="ko-KR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349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서지은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endParaRPr lang="en-US" altLang="ko-KR" sz="1600" b="1" dirty="0">
                        <a:ln w="12700">
                          <a:solidFill>
                            <a:srgbClr val="939597"/>
                          </a:solidFill>
                          <a:prstDash val="soli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>
                          <a:outerShdw dist="38100" dir="2640000" algn="bl" rotWithShape="0">
                            <a:srgbClr val="939597"/>
                          </a:outerShdw>
                        </a:effectLst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 </a:t>
                      </a:r>
                      <a:endParaRPr kumimoji="0" lang="ko-KR" altLang="en-US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  <a:tr h="349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강주은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endParaRPr lang="en-US" altLang="ko-KR" sz="1600" b="1" dirty="0">
                        <a:ln w="12700">
                          <a:solidFill>
                            <a:srgbClr val="939597"/>
                          </a:solidFill>
                          <a:prstDash val="solid"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>
                          <a:outerShdw dist="38100" dir="2640000" algn="bl" rotWithShape="0">
                            <a:srgbClr val="939597"/>
                          </a:outerShdw>
                        </a:effectLst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▶</a:t>
                      </a:r>
                      <a:endParaRPr kumimoji="0" lang="ko-KR" altLang="en-US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497119"/>
                  </a:ext>
                </a:extLst>
              </a:tr>
              <a:tr h="349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김성환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b="1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데이터 가공/활용</a:t>
                      </a:r>
                      <a:r>
                        <a:rPr lang="ko-KR" altLang="en-US" sz="1600" b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 실습 아이디어 비전 제시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b="1" dirty="0">
                          <a:ln w="12700">
                            <a:solidFill>
                              <a:srgbClr val="939597"/>
                            </a:solidFill>
                            <a:prstDash val="solid"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>
                            <a:outerShdw dist="38100" dir="2640000" algn="bl" rotWithShape="0">
                              <a:srgbClr val="939597"/>
                            </a:outerShdw>
                          </a:effectLst>
                          <a:latin typeface="HY견고딕"/>
                          <a:ea typeface="HY견고딕"/>
                        </a:rPr>
                        <a:t>▶ 프로젝트 진행상황 수시 점검 및 피드백 </a:t>
                      </a:r>
                      <a:endParaRPr kumimoji="0" lang="ko-KR" altLang="en-US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957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013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255958" y="197876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4CE34E-C7C1-4DD4-A0D0-B0D83CF9FEFF}"/>
              </a:ext>
            </a:extLst>
          </p:cNvPr>
          <p:cNvSpPr txBox="1"/>
          <p:nvPr/>
        </p:nvSpPr>
        <p:spPr>
          <a:xfrm>
            <a:off x="1127472" y="1294309"/>
            <a:ext cx="7416800" cy="110799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학습 데이터 소개 </a:t>
            </a:r>
            <a:r>
              <a:rPr lang="en-US" altLang="ko-KR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(        )</a:t>
            </a:r>
          </a:p>
          <a:p>
            <a:pPr>
              <a:defRPr/>
            </a:pPr>
            <a:endParaRPr lang="en-US" altLang="ko-KR" sz="1600" b="1" spc="-10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ko-KR" sz="1600" b="1" spc="-10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  <a:p>
            <a:pPr>
              <a:defRPr/>
            </a:pPr>
            <a:endParaRPr lang="en-US" altLang="ko-KR" sz="1600" b="1" spc="-10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CE34E-C7C1-4DD4-A0D0-B0D83CF9FEFF}"/>
              </a:ext>
            </a:extLst>
          </p:cNvPr>
          <p:cNvSpPr txBox="1"/>
          <p:nvPr/>
        </p:nvSpPr>
        <p:spPr>
          <a:xfrm>
            <a:off x="1177325" y="821622"/>
            <a:ext cx="2792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결과 제시 ①</a:t>
            </a:r>
            <a:r>
              <a:rPr lang="en-US" altLang="ko-KR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탐색적 분석 및 전처리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150" y="1163563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 w="12700">
                  <a:solidFill>
                    <a:srgbClr val="939597"/>
                  </a:solidFill>
                  <a:prstDash val="solid"/>
                </a:ln>
                <a:pattFill prst="dkUpDiag">
                  <a:fgClr>
                    <a:srgbClr val="939597"/>
                  </a:fgClr>
                  <a:bgClr>
                    <a:schemeClr val="bg2">
                      <a:lumMod val="90000"/>
                    </a:schemeClr>
                  </a:bgClr>
                </a:patt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 flipV="1">
            <a:off x="4259796" y="980729"/>
            <a:ext cx="7628196" cy="1984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59339" y="1261470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 w="12700">
                  <a:solidFill>
                    <a:srgbClr val="939597"/>
                  </a:solidFill>
                  <a:prstDash val="solid"/>
                </a:ln>
                <a:pattFill prst="dkUpDiag">
                  <a:fgClr>
                    <a:srgbClr val="939597"/>
                  </a:fgClr>
                  <a:bgClr>
                    <a:schemeClr val="bg2">
                      <a:lumMod val="90000"/>
                    </a:schemeClr>
                  </a:bgClr>
                </a:patt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 flipV="1">
            <a:off x="3719736" y="980728"/>
            <a:ext cx="8168256" cy="212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84CE34E-C7C1-4DD4-A0D0-B0D83CF9FEFF}"/>
              </a:ext>
            </a:extLst>
          </p:cNvPr>
          <p:cNvSpPr txBox="1"/>
          <p:nvPr/>
        </p:nvSpPr>
        <p:spPr>
          <a:xfrm>
            <a:off x="1177325" y="821622"/>
            <a:ext cx="2792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결과 제시 ②</a:t>
            </a:r>
            <a:r>
              <a:rPr lang="en-US" altLang="ko-KR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모델 개요</a:t>
            </a:r>
          </a:p>
        </p:txBody>
      </p:sp>
      <p:sp>
        <p:nvSpPr>
          <p:cNvPr id="20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</p:spTree>
    <p:extLst>
      <p:ext uri="{BB962C8B-B14F-4D97-AF65-F5344CB8AC3E}">
        <p14:creationId xmlns:p14="http://schemas.microsoft.com/office/powerpoint/2010/main" val="268896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89310" y="1262440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 w="12700">
                  <a:solidFill>
                    <a:srgbClr val="939597"/>
                  </a:solidFill>
                  <a:prstDash val="solid"/>
                </a:ln>
                <a:pattFill prst="dkUpDiag">
                  <a:fgClr>
                    <a:srgbClr val="939597"/>
                  </a:fgClr>
                  <a:bgClr>
                    <a:schemeClr val="bg2">
                      <a:lumMod val="90000"/>
                    </a:schemeClr>
                  </a:bgClr>
                </a:patt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 flipV="1">
            <a:off x="3719736" y="980728"/>
            <a:ext cx="8168256" cy="212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84CE34E-C7C1-4DD4-A0D0-B0D83CF9FEFF}"/>
              </a:ext>
            </a:extLst>
          </p:cNvPr>
          <p:cNvSpPr txBox="1"/>
          <p:nvPr/>
        </p:nvSpPr>
        <p:spPr>
          <a:xfrm>
            <a:off x="1177325" y="821622"/>
            <a:ext cx="2792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결과 제시 ③</a:t>
            </a:r>
            <a:r>
              <a:rPr lang="en-US" altLang="ko-KR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모델 선정 및 분석</a:t>
            </a:r>
          </a:p>
        </p:txBody>
      </p:sp>
      <p:sp>
        <p:nvSpPr>
          <p:cNvPr id="12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</p:spTree>
    <p:extLst>
      <p:ext uri="{BB962C8B-B14F-4D97-AF65-F5344CB8AC3E}">
        <p14:creationId xmlns:p14="http://schemas.microsoft.com/office/powerpoint/2010/main" val="280224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9339" y="1249596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 w="12700">
                  <a:solidFill>
                    <a:srgbClr val="939597"/>
                  </a:solidFill>
                  <a:prstDash val="solid"/>
                </a:ln>
                <a:pattFill prst="dkUpDiag">
                  <a:fgClr>
                    <a:srgbClr val="939597"/>
                  </a:fgClr>
                  <a:bgClr>
                    <a:schemeClr val="bg2">
                      <a:lumMod val="90000"/>
                    </a:schemeClr>
                  </a:bgClr>
                </a:patt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 flipV="1">
            <a:off x="3719736" y="980728"/>
            <a:ext cx="8168256" cy="212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84CE34E-C7C1-4DD4-A0D0-B0D83CF9FEFF}"/>
              </a:ext>
            </a:extLst>
          </p:cNvPr>
          <p:cNvSpPr txBox="1"/>
          <p:nvPr/>
        </p:nvSpPr>
        <p:spPr>
          <a:xfrm>
            <a:off x="1177325" y="821622"/>
            <a:ext cx="2792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결과 제시 ④</a:t>
            </a:r>
            <a:r>
              <a:rPr lang="en-US" altLang="ko-KR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모델 평가 및 개선</a:t>
            </a: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</p:spTree>
    <p:extLst>
      <p:ext uri="{BB962C8B-B14F-4D97-AF65-F5344CB8AC3E}">
        <p14:creationId xmlns:p14="http://schemas.microsoft.com/office/powerpoint/2010/main" val="2006286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768408" y="360565"/>
            <a:ext cx="20424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ko-KR" sz="16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1600" b="1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별도 첨부 가능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 flipV="1">
            <a:off x="3719736" y="980728"/>
            <a:ext cx="8168256" cy="212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4CE34E-C7C1-4DD4-A0D0-B0D83CF9FEFF}"/>
              </a:ext>
            </a:extLst>
          </p:cNvPr>
          <p:cNvSpPr txBox="1"/>
          <p:nvPr/>
        </p:nvSpPr>
        <p:spPr>
          <a:xfrm>
            <a:off x="1177325" y="821622"/>
            <a:ext cx="27929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결과 제시 ⑤</a:t>
            </a:r>
            <a:r>
              <a:rPr lang="en-US" altLang="ko-KR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400" b="1" spc="-10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시연 동영상</a:t>
            </a:r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459E4F-E9E8-45DC-85CF-E164C5AF3C06}"/>
              </a:ext>
            </a:extLst>
          </p:cNvPr>
          <p:cNvSpPr txBox="1"/>
          <p:nvPr/>
        </p:nvSpPr>
        <p:spPr>
          <a:xfrm>
            <a:off x="1117466" y="1194024"/>
            <a:ext cx="10207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dirty="0">
                <a:solidFill>
                  <a:srgbClr val="FF0000"/>
                </a:solidFill>
              </a:rPr>
              <a:t>훈련생 발표 영상이 아닌 화면 구동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기능 동작 여부 시연 영상으로 제작한다</a:t>
            </a:r>
            <a:endParaRPr lang="en-US" altLang="ko-KR" dirty="0">
              <a:solidFill>
                <a:srgbClr val="FF0000"/>
              </a:solidFill>
            </a:endParaRPr>
          </a:p>
          <a:p>
            <a:pPr latinLnBrk="1"/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>
                <a:solidFill>
                  <a:srgbClr val="FF0000"/>
                </a:solidFill>
              </a:rPr>
              <a:t>용량제한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팀별 </a:t>
            </a:r>
            <a:r>
              <a:rPr lang="en-US" altLang="ko-KR" dirty="0">
                <a:solidFill>
                  <a:srgbClr val="FF0000"/>
                </a:solidFill>
              </a:rPr>
              <a:t>5-10</a:t>
            </a:r>
            <a:r>
              <a:rPr lang="ko-KR" altLang="en-US" dirty="0">
                <a:solidFill>
                  <a:srgbClr val="FF0000"/>
                </a:solidFill>
              </a:rPr>
              <a:t>분 내</a:t>
            </a:r>
            <a:r>
              <a:rPr lang="en-US" altLang="ko-KR" dirty="0">
                <a:solidFill>
                  <a:srgbClr val="FF0000"/>
                </a:solidFill>
              </a:rPr>
              <a:t>(100MB </a:t>
            </a:r>
            <a:r>
              <a:rPr lang="ko-KR" altLang="en-US" dirty="0">
                <a:solidFill>
                  <a:srgbClr val="FF0000"/>
                </a:solidFill>
              </a:rPr>
              <a:t>이하 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51069-B980-4C83-AEFB-CA880579BB52}"/>
              </a:ext>
            </a:extLst>
          </p:cNvPr>
          <p:cNvSpPr txBox="1"/>
          <p:nvPr/>
        </p:nvSpPr>
        <p:spPr>
          <a:xfrm>
            <a:off x="605817" y="1160748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 w="12700">
                  <a:solidFill>
                    <a:srgbClr val="939597"/>
                  </a:solidFill>
                  <a:prstDash val="solid"/>
                </a:ln>
                <a:pattFill prst="dkUpDiag">
                  <a:fgClr>
                    <a:srgbClr val="939597"/>
                  </a:fgClr>
                  <a:bgClr>
                    <a:schemeClr val="bg2">
                      <a:lumMod val="90000"/>
                    </a:schemeClr>
                  </a:bgClr>
                </a:patt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</a:t>
            </a:r>
          </a:p>
        </p:txBody>
      </p:sp>
    </p:spTree>
    <p:extLst>
      <p:ext uri="{BB962C8B-B14F-4D97-AF65-F5344CB8AC3E}">
        <p14:creationId xmlns:p14="http://schemas.microsoft.com/office/powerpoint/2010/main" val="1316262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27348" y="197876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AC9954-4F28-4C61-BB5C-9541A07BDF44}"/>
              </a:ext>
            </a:extLst>
          </p:cNvPr>
          <p:cNvSpPr txBox="1"/>
          <p:nvPr/>
        </p:nvSpPr>
        <p:spPr>
          <a:xfrm>
            <a:off x="1180914" y="1176366"/>
            <a:ext cx="10207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프로젝트 결과물에 대한 프로젝트 기획 의도와의 부합 정도 및 실무 활용 가능 정도</a:t>
            </a:r>
            <a:r>
              <a:rPr lang="en-US" altLang="ko-KR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달성도</a:t>
            </a:r>
            <a:r>
              <a:rPr lang="en-US" altLang="ko-KR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완성도 등 </a:t>
            </a:r>
            <a:r>
              <a:rPr lang="ko-KR" altLang="en-US" b="1" u="sng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훈련생의 자체적인 평가 의견과 느낀 점</a:t>
            </a:r>
            <a:r>
              <a:rPr lang="ko-KR" altLang="en-US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을 작성한다</a:t>
            </a:r>
            <a:r>
              <a:rPr lang="en-US" altLang="ko-KR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1109873" y="3226494"/>
            <a:ext cx="10854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개인 또는 우리 팀이 </a:t>
            </a:r>
            <a:r>
              <a:rPr lang="ko-KR" altLang="en-US" sz="1600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잘한 부분과 아쉬운 점</a:t>
            </a:r>
            <a:endParaRPr lang="en-US" altLang="ko-KR" sz="1600" b="1" spc="-150" dirty="0">
              <a:ln>
                <a:solidFill>
                  <a:schemeClr val="bg1">
                    <a:lumMod val="95000"/>
                    <a:alpha val="2000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817" y="1160748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ln w="12700">
                  <a:solidFill>
                    <a:srgbClr val="939597"/>
                  </a:solidFill>
                  <a:prstDash val="solid"/>
                </a:ln>
                <a:pattFill prst="dkUpDiag">
                  <a:fgClr>
                    <a:srgbClr val="939597"/>
                  </a:fgClr>
                  <a:bgClr>
                    <a:schemeClr val="bg2">
                      <a:lumMod val="90000"/>
                    </a:schemeClr>
                  </a:bgClr>
                </a:pattFill>
                <a:effectLst>
                  <a:outerShdw dist="38100" dir="2640000" algn="bl" rotWithShape="0">
                    <a:srgbClr val="939597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▶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3683732" y="790307"/>
            <a:ext cx="820426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05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339102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자체 평가 의견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1110693" y="5130400"/>
            <a:ext cx="9810663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프로젝트를 수행하면서 </a:t>
            </a:r>
            <a:r>
              <a:rPr lang="ko-KR" altLang="en-US" sz="1600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느낀 점이나 경험한 성과</a:t>
            </a:r>
            <a:r>
              <a:rPr lang="en-US" altLang="ko-KR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경력 계획 등과 연관</a:t>
            </a:r>
            <a:r>
              <a:rPr lang="en-US" altLang="ko-KR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  <a:r>
              <a:rPr lang="ko-KR" altLang="en-US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1109873" y="2448288"/>
            <a:ext cx="9810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사전 기획의 관점에서 </a:t>
            </a:r>
            <a:r>
              <a:rPr lang="ko-KR" altLang="en-US" sz="1600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프로젝트 결과물에 대한 완성도 평가</a:t>
            </a:r>
            <a:r>
              <a:rPr lang="en-US" altLang="ko-KR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(10</a:t>
            </a:r>
            <a:r>
              <a:rPr lang="ko-KR" altLang="en-US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점 만점</a:t>
            </a:r>
            <a:r>
              <a:rPr lang="en-US" altLang="ko-KR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423CA-E427-413A-9169-DD6B4B063271}"/>
              </a:ext>
            </a:extLst>
          </p:cNvPr>
          <p:cNvSpPr txBox="1"/>
          <p:nvPr/>
        </p:nvSpPr>
        <p:spPr>
          <a:xfrm>
            <a:off x="1109873" y="4374032"/>
            <a:ext cx="9810663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프로젝트 결과물의 </a:t>
            </a:r>
            <a:r>
              <a:rPr lang="ko-KR" altLang="en-US" sz="1600" b="1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추후 개선점이나 보완할 점 </a:t>
            </a:r>
            <a:r>
              <a:rPr lang="ko-KR" altLang="en-US" sz="1600" spc="-150" dirty="0">
                <a:ln>
                  <a:solidFill>
                    <a:schemeClr val="bg1">
                      <a:lumMod val="95000"/>
                      <a:alpha val="20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</a:rPr>
              <a:t>등 내용 정리</a:t>
            </a:r>
            <a:endParaRPr lang="en-US" altLang="ko-KR" sz="1600" spc="-150" dirty="0">
              <a:ln>
                <a:solidFill>
                  <a:schemeClr val="bg1">
                    <a:lumMod val="95000"/>
                    <a:alpha val="2000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김당근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431E"/>
      </a:accent1>
      <a:accent2>
        <a:srgbClr val="E41A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2621</TotalTime>
  <Words>339</Words>
  <Application>Microsoft Office PowerPoint</Application>
  <PresentationFormat>와이드스크린</PresentationFormat>
  <Paragraphs>114</Paragraphs>
  <Slides>10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김다은</dc:creator>
  <cp:lastModifiedBy>User</cp:lastModifiedBy>
  <cp:revision>489</cp:revision>
  <cp:lastPrinted>2023-10-05T23:14:22Z</cp:lastPrinted>
  <dcterms:created xsi:type="dcterms:W3CDTF">2014-04-29T00:37:20Z</dcterms:created>
  <dcterms:modified xsi:type="dcterms:W3CDTF">2025-02-03T08:09:02Z</dcterms:modified>
</cp:coreProperties>
</file>